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0897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91440"/>
            <a:ext cx="2011680" cy="2011680"/>
          </a:xfrm>
          <a:prstGeom prst="ellipse">
            <a:avLst/>
          </a:prstGeom>
          <a:solidFill>
            <a:srgbClr val="4DB6A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GenC Next Internship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Internship Summary Report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4572000" cy="457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QEA – SDET Domain  |  Quality Engineering &amp; Assurance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0" cy="1188720"/>
          </a:xfrm>
          <a:prstGeom prst="rect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 Jain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22SCSE1410010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31089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(AI)  |  School of Computing Science &amp; Engineering
</a:t>
            </a:r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Galgotias University, Greater Noida  |  2025–2026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Feb 2026 – 12 Jun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02920" cy="10058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2161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600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goals, problem statement, organization overview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13432"/>
            <a:ext cx="502920" cy="10058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569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3865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Activities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7706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progress, tasks, tools &amp; technologies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483864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483864"/>
            <a:ext cx="502920" cy="10058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5570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94106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skills, soft skills, challenges overcome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114300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143000"/>
            <a:ext cx="502920" cy="10058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12161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Implementation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1600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microservice, testing, CI/CD pipeline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313432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313432"/>
            <a:ext cx="502920" cy="10058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569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23865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27706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results, key outcomes, future roadmap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731520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QEA – SDET at Cognizant Technology Solutions India Pvt. Ltd.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 Analyst Trainee  |  GenC Next Program  |  17 Feb – 12 Jun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103120"/>
            <a:ext cx="274320" cy="27432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93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Exposure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3042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First-hand experience of large-scale software delivery at a Fortune 500 IT company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0" y="192024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2103120"/>
            <a:ext cx="274320" cy="27432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1993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Proficiency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23042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17, Spring Boot, JUnit 5, Mockito, RestAssured, Maven &amp; Jenkins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108960"/>
            <a:ext cx="274320" cy="27432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999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3101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scripts validating unit-level correctness &amp; API-level behaviour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292608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108960"/>
            <a:ext cx="274320" cy="27432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2999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Mindset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33101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participation in Scrum ceremonies — stand-ups, sprints, retrospectives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93192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114800"/>
            <a:ext cx="274320" cy="27432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0050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Grooming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3159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Communication, time management, accountability &amp; corporate collaboration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393192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4114800"/>
            <a:ext cx="274320" cy="27432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30" name="Text 28"/>
          <p:cNvSpPr/>
          <p:nvPr/>
        </p:nvSpPr>
        <p:spPr>
          <a:xfrm>
            <a:off x="5257800" y="40050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Preparation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43159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full-time Programmer Analyst role at Cognizant upon completion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COGNIZANT &amp; DOMAIN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3840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Solutions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73152" cy="25603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38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1994, HQ: Teaneck, New Jersey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78024"/>
            <a:ext cx="73152" cy="25603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50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IT services &amp; consulting company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90088"/>
            <a:ext cx="73152" cy="25603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626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Banking, Healthcare, Retail &amp; Tech verticals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02152"/>
            <a:ext cx="73152" cy="25603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campus program: GenC (Generation Cognizant)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014216"/>
            <a:ext cx="73152" cy="25603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867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QEA-SDET: Most technically demanding GenC track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4069080" cy="13716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1155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QEA – SDET Domain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48132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&amp; Assurance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Engineer in Test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514600"/>
            <a:ext cx="40690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25420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Role: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52160" y="2542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development + quality assurance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081528"/>
            <a:ext cx="40690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Shift-Left: 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5216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caught early in the dev pipeline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648456"/>
            <a:ext cx="40690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36758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Pyramid: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52160" y="36758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→ Integration → API tests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4215384"/>
            <a:ext cx="40690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92040" y="424281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Focus: 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52160" y="42428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pipelines with Jenkins &amp; Maven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LOG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20624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521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11521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+ Core Java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setup, OOP, collections, lambdas, 30+ coding problems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97280"/>
            <a:ext cx="420624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521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0" y="11521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Java + Spring Core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API, multithreading, IoC, DI, Bean lifecycle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37744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77440"/>
            <a:ext cx="420624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4323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24323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JPA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CRUD endpoints, MySQL integration via Spring Data JPA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37744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377440"/>
            <a:ext cx="420624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4323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52160" y="24323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Best Practices + JUnit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28346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mapping, exception handling, unit tests with Mockito — 80%+ coverage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65760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57600"/>
            <a:ext cx="420624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712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1600" y="37124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+ RestAssured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SpringBootTest, Testcontainers, API automation regression suite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65760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657600"/>
            <a:ext cx="420624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712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11–12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0" y="37124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+ Jenkins CI/CD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4114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lifecycle, Surefire/Failsafe/JaCoCo, declarative Jenkinsfile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20624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24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563624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527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(JDK)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837944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112264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075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386584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2350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ORM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660904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2624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105156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051560"/>
            <a:ext cx="4206240" cy="38404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124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Frameworks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3480" y="1563624"/>
            <a:ext cx="128016" cy="128016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22" name="Text 20"/>
          <p:cNvSpPr/>
          <p:nvPr/>
        </p:nvSpPr>
        <p:spPr>
          <a:xfrm>
            <a:off x="5184648" y="1527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83480" y="1837944"/>
            <a:ext cx="128016" cy="128016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24" name="Text 22"/>
          <p:cNvSpPr/>
          <p:nvPr/>
        </p:nvSpPr>
        <p:spPr>
          <a:xfrm>
            <a:off x="5184648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Mockito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83480" y="2112264"/>
            <a:ext cx="128016" cy="128016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26" name="Text 24"/>
          <p:cNvSpPr/>
          <p:nvPr/>
        </p:nvSpPr>
        <p:spPr>
          <a:xfrm>
            <a:off x="5184648" y="2075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RestAssured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83480" y="2386584"/>
            <a:ext cx="128016" cy="128016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28" name="Text 26"/>
          <p:cNvSpPr/>
          <p:nvPr/>
        </p:nvSpPr>
        <p:spPr>
          <a:xfrm>
            <a:off x="5184648" y="2350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83480" y="2660904"/>
            <a:ext cx="128016" cy="128016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30" name="Text 28"/>
          <p:cNvSpPr/>
          <p:nvPr/>
        </p:nvSpPr>
        <p:spPr>
          <a:xfrm>
            <a:off x="5184648" y="2624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AssertJ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06324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063240"/>
            <a:ext cx="420624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136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CI/CD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3575304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3538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Maven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3849624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" y="3813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4123944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9" name="Text 37"/>
          <p:cNvSpPr/>
          <p:nvPr/>
        </p:nvSpPr>
        <p:spPr>
          <a:xfrm>
            <a:off x="704088" y="4087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 Coverage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920" y="4398264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1" name="Text 39"/>
          <p:cNvSpPr/>
          <p:nvPr/>
        </p:nvSpPr>
        <p:spPr>
          <a:xfrm>
            <a:off x="704088" y="4361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Surefire / Failsafe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" y="4672584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43" name="Text 41"/>
          <p:cNvSpPr/>
          <p:nvPr/>
        </p:nvSpPr>
        <p:spPr>
          <a:xfrm>
            <a:off x="704088" y="4636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Bitbucket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00600" y="306324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3063240"/>
            <a:ext cx="4206240" cy="3840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46" name="Text 44"/>
          <p:cNvSpPr/>
          <p:nvPr/>
        </p:nvSpPr>
        <p:spPr>
          <a:xfrm>
            <a:off x="4937760" y="3136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 &amp; Workflow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983480" y="3575304"/>
            <a:ext cx="128016" cy="128016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48" name="Text 46"/>
          <p:cNvSpPr/>
          <p:nvPr/>
        </p:nvSpPr>
        <p:spPr>
          <a:xfrm>
            <a:off x="5184648" y="3538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983480" y="3849624"/>
            <a:ext cx="128016" cy="128016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50" name="Text 48"/>
          <p:cNvSpPr/>
          <p:nvPr/>
        </p:nvSpPr>
        <p:spPr>
          <a:xfrm>
            <a:off x="5184648" y="3813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983480" y="4123944"/>
            <a:ext cx="128016" cy="128016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52" name="Text 50"/>
          <p:cNvSpPr/>
          <p:nvPr/>
        </p:nvSpPr>
        <p:spPr>
          <a:xfrm>
            <a:off x="5184648" y="4087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983480" y="4398264"/>
            <a:ext cx="128016" cy="128016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54" name="Text 52"/>
          <p:cNvSpPr/>
          <p:nvPr/>
        </p:nvSpPr>
        <p:spPr>
          <a:xfrm>
            <a:off x="5184648" y="4361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983480" y="4672584"/>
            <a:ext cx="128016" cy="128016"/>
          </a:xfrm>
          <a:prstGeom prst="ellipse">
            <a:avLst/>
          </a:prstGeom>
          <a:solidFill>
            <a:srgbClr val="4527A0"/>
          </a:solidFill>
          <a:ln/>
        </p:spPr>
      </p:sp>
      <p:sp>
        <p:nvSpPr>
          <p:cNvPr id="56" name="Text 54"/>
          <p:cNvSpPr/>
          <p:nvPr/>
        </p:nvSpPr>
        <p:spPr>
          <a:xfrm>
            <a:off x="5184648" y="4636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MS Teams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206240" cy="4114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73152" cy="5029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81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&amp; Advanced Java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8470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Generics, Streams API, lambdas, concurrency at industrial level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73152" cy="5029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6334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Controller-Service-Repository pattern, REST endpoints, data persistence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73152" cy="5029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4198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5, Mockito, integration tests with Testcontainers, RestAssured suites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73152" cy="5029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410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CI/CD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lifecycle, JaCoCo reports, declarative Jenkins pipelines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40690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51560"/>
            <a:ext cx="406908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 &amp; Industry Awareness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1581912"/>
            <a:ext cx="137160" cy="13716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554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communication in stand-ups &amp; demos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856232"/>
            <a:ext cx="137160" cy="13716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18288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via Pomodoro routine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130552"/>
            <a:ext cx="137160" cy="13716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21031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Agile-Scrum workflow &amp; JIRA sprint tracking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404872"/>
            <a:ext cx="137160" cy="13716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23774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peer collaboration &amp; code reviews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017520"/>
            <a:ext cx="40690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017520"/>
            <a:ext cx="4069080" cy="4114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Overcome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3529584"/>
            <a:ext cx="73152" cy="201168"/>
          </a:xfrm>
          <a:prstGeom prst="rect">
            <a:avLst/>
          </a:prstGeom>
          <a:solidFill>
            <a:srgbClr val="EF9A9A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3502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ecosystem complexity → personal glossary + pair-programming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803904"/>
            <a:ext cx="73152" cy="201168"/>
          </a:xfrm>
          <a:prstGeom prst="rect">
            <a:avLst/>
          </a:prstGeom>
          <a:solidFill>
            <a:srgbClr val="EF9A9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776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integration tests → Testcontainers for DB isolation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4078224"/>
            <a:ext cx="73152" cy="201168"/>
          </a:xfrm>
          <a:prstGeom prst="rect">
            <a:avLst/>
          </a:prstGeom>
          <a:solidFill>
            <a:srgbClr val="EF9A9A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4050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 failures → systematic console-log debugging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4352544"/>
            <a:ext cx="73152" cy="201168"/>
          </a:xfrm>
          <a:prstGeom prst="rect">
            <a:avLst/>
          </a:prstGeom>
          <a:solidFill>
            <a:srgbClr val="EF9A9A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4325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False-confidence tests → Behaviour-driven Arrange-Act-Assert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IMPLEMENTATION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 Microservice —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508760" cy="777240"/>
          </a:xfrm>
          <a:prstGeom prst="rect">
            <a:avLst/>
          </a:prstGeom>
          <a:solidFill>
            <a:srgbClr val="78909C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4173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(Postman / RestAssured)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0" y="1719072"/>
            <a:ext cx="2286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Shape 7"/>
          <p:cNvSpPr/>
          <p:nvPr/>
        </p:nvSpPr>
        <p:spPr>
          <a:xfrm>
            <a:off x="2057400" y="1417320"/>
            <a:ext cx="1508760" cy="77724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4173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ProductController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(@RestController)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66160" y="1719072"/>
            <a:ext cx="2286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Shape 10"/>
          <p:cNvSpPr/>
          <p:nvPr/>
        </p:nvSpPr>
        <p:spPr>
          <a:xfrm>
            <a:off x="3794760" y="1417320"/>
            <a:ext cx="1508760" cy="77724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14173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ProductService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(@Service)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03520" y="1719072"/>
            <a:ext cx="2286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5" name="Shape 13"/>
          <p:cNvSpPr/>
          <p:nvPr/>
        </p:nvSpPr>
        <p:spPr>
          <a:xfrm>
            <a:off x="5532120" y="1417320"/>
            <a:ext cx="1508760" cy="777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32120" y="14173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ProductRepository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(@Repository)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040880" y="1719072"/>
            <a:ext cx="228600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8" name="Shape 16"/>
          <p:cNvSpPr/>
          <p:nvPr/>
        </p:nvSpPr>
        <p:spPr>
          <a:xfrm>
            <a:off x="7269480" y="1417320"/>
            <a:ext cx="1508760" cy="777240"/>
          </a:xfrm>
          <a:prstGeom prst="rect">
            <a:avLst/>
          </a:prstGeom>
          <a:solidFill>
            <a:srgbClr val="37474F"/>
          </a:solidFill>
          <a:ln/>
          <a:effectLst>
            <a:outerShdw sx="100000" sy="100000" kx="0" ky="0" algn="bl" rotWithShape="0" blurRad="38100" dist="127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14173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331720"/>
            <a:ext cx="4206240" cy="2606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ProductService.java — findById()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697480"/>
            <a:ext cx="3977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5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Product findById(Long id)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5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repository.findById(id)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5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.orElseThrow(() -&gt; new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5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ProductNotFoundException(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5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"Not found: " + id));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5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331720"/>
            <a:ext cx="4069080" cy="2606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377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ProductServiceTest.java — Unit Test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697480"/>
            <a:ext cx="3886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5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findById_throws_whenNotFound()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when(repository.findById(99L))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.thenReturn(Optional.empty());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assertThatThrownBy(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() -&gt; service.findById(99L))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.isInstanceOf(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ProductNotFoundException.class);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5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— JENKINS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234440" cy="914400"/>
          </a:xfrm>
          <a:prstGeom prst="rect">
            <a:avLst/>
          </a:prstGeom>
          <a:solidFill>
            <a:srgbClr val="37474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430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 scm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54480" y="1499616"/>
            <a:ext cx="201168" cy="914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Shape 7"/>
          <p:cNvSpPr/>
          <p:nvPr/>
        </p:nvSpPr>
        <p:spPr>
          <a:xfrm>
            <a:off x="1755648" y="1097280"/>
            <a:ext cx="1234440" cy="91440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55648" y="11430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55648" y="15087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clean compile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90088" y="1499616"/>
            <a:ext cx="201168" cy="914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Shape 11"/>
          <p:cNvSpPr/>
          <p:nvPr/>
        </p:nvSpPr>
        <p:spPr>
          <a:xfrm>
            <a:off x="3191256" y="1097280"/>
            <a:ext cx="1234440" cy="91440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91256" y="11430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91256" y="15087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test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25696" y="1499616"/>
            <a:ext cx="201168" cy="914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Shape 15"/>
          <p:cNvSpPr/>
          <p:nvPr/>
        </p:nvSpPr>
        <p:spPr>
          <a:xfrm>
            <a:off x="4626864" y="1097280"/>
            <a:ext cx="1234440" cy="91440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6864" y="11430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087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verify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861304" y="1499616"/>
            <a:ext cx="201168" cy="914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1" name="Shape 19"/>
          <p:cNvSpPr/>
          <p:nvPr/>
        </p:nvSpPr>
        <p:spPr>
          <a:xfrm>
            <a:off x="6062472" y="1097280"/>
            <a:ext cx="1234440" cy="914400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62472" y="11430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62472" y="15087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jacoco:report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296912" y="1499616"/>
            <a:ext cx="201168" cy="914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0" y="1097280"/>
            <a:ext cx="1234440" cy="914400"/>
          </a:xfrm>
          <a:prstGeom prst="rect">
            <a:avLst/>
          </a:prstGeom>
          <a:solidFill>
            <a:srgbClr val="4527A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0" y="11430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15087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package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2194560"/>
            <a:ext cx="8503920" cy="2697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(Declarative Pipeline)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2578608"/>
            <a:ext cx="8366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8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any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8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tools { jdk 'jdk-17'   maven 'maven-3.9'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8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8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stage('Build')        { steps { sh 'mvn clean compile -B' }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8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stage('Unit Tests')   { steps { sh 'mvn test -B'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8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post { always { junit 'target/surefire-reports/*.xml' } }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8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stage('Integration')  { steps { sh 'mvn verify -B -DskipUnitTests' }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8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stage('Coverage')     { steps { sh 'mvn jacoco:report' }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8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stage('Package')      { steps { sh 'mvn package -DskipTests' }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8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8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 { failure { mail to: 'avi.jain@cognizant.com', subject: "Build Failed" }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8F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SWOT &amp; CONCLUSION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874520" cy="9144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60704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24128"/>
            <a:ext cx="1874520" cy="9144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60704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463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024128"/>
            <a:ext cx="1874520" cy="9144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060704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1463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024128"/>
            <a:ext cx="1874520" cy="9144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060704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14630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084832"/>
            <a:ext cx="4160520" cy="123444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084832"/>
            <a:ext cx="502920" cy="12344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43230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21396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243230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Spring Boot proficiency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Test-first mindset, 80%+ coverage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85%+ assessment scores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73168" y="2084832"/>
            <a:ext cx="4160520" cy="123444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73168" y="2084832"/>
            <a:ext cx="502920" cy="123444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243230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67528" y="21396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67528" y="243230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distributed systems exposure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tools (JMeter)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skills at beginner level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456432"/>
            <a:ext cx="4160520" cy="1234440"/>
          </a:xfrm>
          <a:prstGeom prst="rect">
            <a:avLst/>
          </a:prstGeom>
          <a:solidFill>
            <a:srgbClr val="E3F2FD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456432"/>
            <a:ext cx="502920" cy="12344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80390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14400" y="35112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4400" y="380390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microservices &amp; SonarQube ahead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(real client delivery)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to full-time Programmer Analyst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73168" y="3456432"/>
            <a:ext cx="4160520" cy="123444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73168" y="3456432"/>
            <a:ext cx="502920" cy="12344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380390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367528" y="35112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67528" y="380390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tool evolution → continuous learning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entry-level market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Demanding deadlines in peak sprints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76402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Full-time Programmer Analyst at Cognizant  |  Completion: 12 June 2026  |  Avi Jain · 22SCSE1410010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Cognizant GenC Next Internship Report</dc:title>
  <dc:subject>PptxGenJS Presentation</dc:subject>
  <dc:creator>PptxGenJS</dc:creator>
  <cp:lastModifiedBy>PptxGenJS</cp:lastModifiedBy>
  <cp:revision>1</cp:revision>
  <dcterms:created xsi:type="dcterms:W3CDTF">2026-05-05T09:57:15Z</dcterms:created>
  <dcterms:modified xsi:type="dcterms:W3CDTF">2026-05-05T09:57:15Z</dcterms:modified>
</cp:coreProperties>
</file>